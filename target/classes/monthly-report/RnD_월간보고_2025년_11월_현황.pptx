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notesMasterIdLst>
    <p:notesMasterId r:id="rId3"/>
  </p:notesMasterIdLst>
  <p:sldIdLst>
    <p:sldId id="480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F601B53B-F891-4176-A1AF-2A7607C5C4B5}">
          <p14:sldIdLst/>
        </p14:section>
        <p14:section name="AI플랫폼 사업부" id="{DA6214E6-9F43-42B2-BF3A-38D0E9474EF6}">
          <p14:sldIdLst>
            <p14:sldId id="480"/>
          </p14:sldIdLst>
        </p14:section>
      </p14:sectionLst>
    </p:ext>
    <p:ext uri="{EFAFB233-063F-42B5-8137-9DF3F51BA10A}">
      <p15:sldGuideLst xmlns:p15="http://schemas.microsoft.com/office/powerpoint/2012/main">
        <p15:guide id="2" pos="151" userDrawn="1">
          <p15:clr>
            <a:srgbClr val="A4A3A4"/>
          </p15:clr>
        </p15:guide>
        <p15:guide id="3" orient="horz" pos="73" userDrawn="1">
          <p15:clr>
            <a:srgbClr val="A4A3A4"/>
          </p15:clr>
        </p15:guide>
        <p15:guide id="4" orient="horz" pos="300" userDrawn="1">
          <p15:clr>
            <a:srgbClr val="A4A3A4"/>
          </p15:clr>
        </p15:guide>
        <p15:guide id="5" pos="7560" userDrawn="1">
          <p15:clr>
            <a:srgbClr val="A4A3A4"/>
          </p15:clr>
        </p15:guide>
        <p15:guide id="6" orient="horz" pos="618" userDrawn="1">
          <p15:clr>
            <a:srgbClr val="A4A3A4"/>
          </p15:clr>
        </p15:guide>
        <p15:guide id="7" orient="horz" pos="799" userDrawn="1">
          <p15:clr>
            <a:srgbClr val="A4A3A4"/>
          </p15:clr>
        </p15:guide>
        <p15:guide id="8" orient="horz" pos="1117" userDrawn="1">
          <p15:clr>
            <a:srgbClr val="A4A3A4"/>
          </p15:clr>
        </p15:guide>
        <p15:guide id="9" orient="horz" pos="4042" userDrawn="1">
          <p15:clr>
            <a:srgbClr val="A4A3A4"/>
          </p15:clr>
        </p15:guide>
        <p15:guide id="10" pos="3847" userDrawn="1">
          <p15:clr>
            <a:srgbClr val="A4A3A4"/>
          </p15:clr>
        </p15:guide>
        <p15:guide id="11" pos="272" userDrawn="1">
          <p15:clr>
            <a:srgbClr val="A4A3A4"/>
          </p15:clr>
        </p15:guide>
        <p15:guide id="12" pos="7439" userDrawn="1">
          <p15:clr>
            <a:srgbClr val="A4A3A4"/>
          </p15:clr>
        </p15:guide>
        <p15:guide id="13" pos="1360" userDrawn="1">
          <p15:clr>
            <a:srgbClr val="A4A3A4"/>
          </p15:clr>
        </p15:guide>
        <p15:guide id="14" pos="393" userDrawn="1">
          <p15:clr>
            <a:srgbClr val="A4A3A4"/>
          </p15:clr>
        </p15:guide>
        <p15:guide id="15" orient="horz" pos="3566" userDrawn="1">
          <p15:clr>
            <a:srgbClr val="A4A3A4"/>
          </p15:clr>
        </p15:guide>
        <p15:guide id="16" orient="horz" pos="4247" userDrawn="1">
          <p15:clr>
            <a:srgbClr val="A4A3A4"/>
          </p15:clr>
        </p15:guide>
        <p15:guide id="17" orient="horz" pos="3702" userDrawn="1">
          <p15:clr>
            <a:srgbClr val="A4A3A4"/>
          </p15:clr>
        </p15:guide>
        <p15:guide id="18" pos="3688" userDrawn="1">
          <p15:clr>
            <a:srgbClr val="A4A3A4"/>
          </p15:clr>
        </p15:guide>
        <p15:guide id="19" orient="horz" pos="935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SN" initials="R" lastIdx="1" clrIdx="0">
    <p:extLst>
      <p:ext uri="{19B8F6BF-5375-455C-9EA6-DF929625EA0E}">
        <p15:presenceInfo xmlns:p15="http://schemas.microsoft.com/office/powerpoint/2012/main" userId="RSN" providerId="None"/>
      </p:ext>
    </p:extLst>
  </p:cmAuthor>
  <p:cmAuthor id="2" name="미라 김" initials="미김" lastIdx="2" clrIdx="1">
    <p:extLst>
      <p:ext uri="{19B8F6BF-5375-455C-9EA6-DF929625EA0E}">
        <p15:presenceInfo xmlns:p15="http://schemas.microsoft.com/office/powerpoint/2012/main" userId="dd0f67a76a7e3f40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0000"/>
    <a:srgbClr val="FFF9E7"/>
    <a:srgbClr val="0177E1"/>
    <a:srgbClr val="1AA4FC"/>
    <a:srgbClr val="F2F2F2"/>
    <a:srgbClr val="DAE3F3"/>
    <a:srgbClr val="0079FF"/>
    <a:srgbClr val="0E2050"/>
    <a:srgbClr val="134488"/>
    <a:srgbClr val="E6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797" autoAdjust="0"/>
    <p:restoredTop sz="96582" autoAdjust="0"/>
  </p:normalViewPr>
  <p:slideViewPr>
    <p:cSldViewPr>
      <p:cViewPr varScale="1">
        <p:scale>
          <a:sx n="113" d="100"/>
          <a:sy n="113" d="100"/>
        </p:scale>
        <p:origin x="696" y="108"/>
      </p:cViewPr>
      <p:guideLst>
        <p:guide pos="151"/>
        <p:guide orient="horz" pos="73"/>
        <p:guide orient="horz" pos="300"/>
        <p:guide pos="7560"/>
        <p:guide orient="horz" pos="618"/>
        <p:guide orient="horz" pos="799"/>
        <p:guide orient="horz" pos="1117"/>
        <p:guide orient="horz" pos="4042"/>
        <p:guide pos="3847"/>
        <p:guide pos="272"/>
        <p:guide pos="7439"/>
        <p:guide pos="1360"/>
        <p:guide pos="393"/>
        <p:guide orient="horz" pos="3566"/>
        <p:guide orient="horz" pos="4247"/>
        <p:guide orient="horz" pos="3702"/>
        <p:guide pos="3688"/>
        <p:guide orient="horz" pos="935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0" d="100"/>
          <a:sy n="90" d="100"/>
        </p:scale>
        <p:origin x="3186" y="72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4E1BDD-FFB9-405E-AB81-E6CA7DB49094}" type="datetimeFigureOut">
              <a:rPr lang="ko-KR" altLang="en-US" smtClean="0"/>
              <a:t>2025-10-22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B5ADC5-392A-4681-B777-0AAB818680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28958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4724400" y="6572273"/>
            <a:ext cx="2743200" cy="222225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9F21817-1364-4A8F-8EA0-495991E1A2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4CEF0F3-7909-57CD-E2E6-5EDA3E6BD6DE}"/>
              </a:ext>
            </a:extLst>
          </p:cNvPr>
          <p:cNvSpPr/>
          <p:nvPr userDrawn="1"/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E2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EAC484AF-0366-9F0A-0159-A24082DB4996}"/>
              </a:ext>
            </a:extLst>
          </p:cNvPr>
          <p:cNvGrpSpPr/>
          <p:nvPr userDrawn="1"/>
        </p:nvGrpSpPr>
        <p:grpSpPr>
          <a:xfrm>
            <a:off x="0" y="6380054"/>
            <a:ext cx="12192000" cy="477945"/>
            <a:chOff x="0" y="6427822"/>
            <a:chExt cx="12192000" cy="477945"/>
          </a:xfrm>
          <a:solidFill>
            <a:srgbClr val="0177E1"/>
          </a:solidFill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F3EC80A-F96D-AC70-27C3-6CFDF1A886DF}"/>
                </a:ext>
              </a:extLst>
            </p:cNvPr>
            <p:cNvSpPr/>
            <p:nvPr userDrawn="1"/>
          </p:nvSpPr>
          <p:spPr>
            <a:xfrm>
              <a:off x="0" y="6711624"/>
              <a:ext cx="12192000" cy="19414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74CDDD7-4E7F-72AE-3DE4-F083BF77F2A6}"/>
                </a:ext>
              </a:extLst>
            </p:cNvPr>
            <p:cNvSpPr/>
            <p:nvPr userDrawn="1"/>
          </p:nvSpPr>
          <p:spPr>
            <a:xfrm>
              <a:off x="5812808" y="6570439"/>
              <a:ext cx="6379192" cy="14637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9CBDC01-B914-21CF-F215-1EB1A8F0F8EB}"/>
                </a:ext>
              </a:extLst>
            </p:cNvPr>
            <p:cNvSpPr/>
            <p:nvPr userDrawn="1"/>
          </p:nvSpPr>
          <p:spPr>
            <a:xfrm>
              <a:off x="8993874" y="6427822"/>
              <a:ext cx="3198125" cy="146375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968692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그룹 2">
            <a:extLst>
              <a:ext uri="{FF2B5EF4-FFF2-40B4-BE49-F238E27FC236}">
                <a16:creationId xmlns:a16="http://schemas.microsoft.com/office/drawing/2014/main" id="{EAC484AF-0366-9F0A-0159-A24082DB4996}"/>
              </a:ext>
            </a:extLst>
          </p:cNvPr>
          <p:cNvGrpSpPr/>
          <p:nvPr userDrawn="1"/>
        </p:nvGrpSpPr>
        <p:grpSpPr>
          <a:xfrm>
            <a:off x="0" y="6388146"/>
            <a:ext cx="12192000" cy="477945"/>
            <a:chOff x="0" y="6427822"/>
            <a:chExt cx="12192000" cy="477945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8F3EC80A-F96D-AC70-27C3-6CFDF1A886DF}"/>
                </a:ext>
              </a:extLst>
            </p:cNvPr>
            <p:cNvSpPr/>
            <p:nvPr userDrawn="1"/>
          </p:nvSpPr>
          <p:spPr>
            <a:xfrm>
              <a:off x="0" y="6711624"/>
              <a:ext cx="12192000" cy="194143"/>
            </a:xfrm>
            <a:prstGeom prst="rect">
              <a:avLst/>
            </a:prstGeom>
            <a:solidFill>
              <a:srgbClr val="0177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574CDDD7-4E7F-72AE-3DE4-F083BF77F2A6}"/>
                </a:ext>
              </a:extLst>
            </p:cNvPr>
            <p:cNvSpPr/>
            <p:nvPr userDrawn="1"/>
          </p:nvSpPr>
          <p:spPr>
            <a:xfrm>
              <a:off x="5812808" y="6570439"/>
              <a:ext cx="6379192" cy="146375"/>
            </a:xfrm>
            <a:prstGeom prst="rect">
              <a:avLst/>
            </a:prstGeom>
            <a:solidFill>
              <a:srgbClr val="0177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19CBDC01-B914-21CF-F215-1EB1A8F0F8EB}"/>
                </a:ext>
              </a:extLst>
            </p:cNvPr>
            <p:cNvSpPr/>
            <p:nvPr userDrawn="1"/>
          </p:nvSpPr>
          <p:spPr>
            <a:xfrm>
              <a:off x="8993874" y="6427822"/>
              <a:ext cx="3198125" cy="146375"/>
            </a:xfrm>
            <a:prstGeom prst="rect">
              <a:avLst/>
            </a:prstGeom>
            <a:solidFill>
              <a:srgbClr val="0177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pic>
        <p:nvPicPr>
          <p:cNvPr id="5" name="그림 4">
            <a:extLst>
              <a:ext uri="{FF2B5EF4-FFF2-40B4-BE49-F238E27FC236}">
                <a16:creationId xmlns:a16="http://schemas.microsoft.com/office/drawing/2014/main" id="{59CAA7B5-AFE2-0288-8A33-BBAEFCD0C24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979" t="27855" r="16910" b="34739"/>
          <a:stretch/>
        </p:blipFill>
        <p:spPr>
          <a:xfrm>
            <a:off x="10825451" y="209518"/>
            <a:ext cx="1102099" cy="267153"/>
          </a:xfrm>
          <a:prstGeom prst="rect">
            <a:avLst/>
          </a:prstGeom>
        </p:spPr>
      </p:pic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1111879" y="6522671"/>
            <a:ext cx="1080120" cy="222225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9F21817-1364-4A8F-8EA0-495991E1A2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694E7D9-F900-3AB6-B92B-3C3561FB86F0}"/>
              </a:ext>
            </a:extLst>
          </p:cNvPr>
          <p:cNvCxnSpPr>
            <a:cxnSpLocks/>
          </p:cNvCxnSpPr>
          <p:nvPr userDrawn="1"/>
        </p:nvCxnSpPr>
        <p:spPr>
          <a:xfrm>
            <a:off x="191344" y="716508"/>
            <a:ext cx="11809312" cy="0"/>
          </a:xfrm>
          <a:prstGeom prst="line">
            <a:avLst/>
          </a:prstGeom>
          <a:ln>
            <a:solidFill>
              <a:srgbClr val="13448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980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8F3EC80A-F96D-AC70-27C3-6CFDF1A886DF}"/>
              </a:ext>
            </a:extLst>
          </p:cNvPr>
          <p:cNvSpPr/>
          <p:nvPr userDrawn="1"/>
        </p:nvSpPr>
        <p:spPr>
          <a:xfrm>
            <a:off x="0" y="6821987"/>
            <a:ext cx="12192000" cy="45719"/>
          </a:xfrm>
          <a:prstGeom prst="rect">
            <a:avLst/>
          </a:prstGeom>
          <a:solidFill>
            <a:srgbClr val="0177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1111879" y="6522671"/>
            <a:ext cx="1080120" cy="222225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bg1">
                    <a:lumMod val="50000"/>
                  </a:schemeClr>
                </a:solidFill>
              </a:defRPr>
            </a:lvl1pPr>
          </a:lstStyle>
          <a:p>
            <a:fld id="{69F21817-1364-4A8F-8EA0-495991E1A28B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A3DCE151-B975-9E67-6CDA-71C6E83F68D6}"/>
              </a:ext>
            </a:extLst>
          </p:cNvPr>
          <p:cNvGrpSpPr/>
          <p:nvPr userDrawn="1"/>
        </p:nvGrpSpPr>
        <p:grpSpPr>
          <a:xfrm>
            <a:off x="-2" y="-2476"/>
            <a:ext cx="12192002" cy="959743"/>
            <a:chOff x="-2" y="-2476"/>
            <a:chExt cx="12192002" cy="959743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1337EDF4-82C4-0E7D-F5BD-187FD9648110}"/>
                </a:ext>
              </a:extLst>
            </p:cNvPr>
            <p:cNvSpPr/>
            <p:nvPr userDrawn="1"/>
          </p:nvSpPr>
          <p:spPr>
            <a:xfrm>
              <a:off x="0" y="-2476"/>
              <a:ext cx="12192000" cy="911196"/>
            </a:xfrm>
            <a:prstGeom prst="rect">
              <a:avLst/>
            </a:prstGeom>
            <a:solidFill>
              <a:srgbClr val="0E205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grpSp>
          <p:nvGrpSpPr>
            <p:cNvPr id="9" name="그룹 8">
              <a:extLst>
                <a:ext uri="{FF2B5EF4-FFF2-40B4-BE49-F238E27FC236}">
                  <a16:creationId xmlns:a16="http://schemas.microsoft.com/office/drawing/2014/main" id="{49673190-F1A2-A88B-A54B-E2D341B8E14D}"/>
                </a:ext>
              </a:extLst>
            </p:cNvPr>
            <p:cNvGrpSpPr/>
            <p:nvPr userDrawn="1"/>
          </p:nvGrpSpPr>
          <p:grpSpPr>
            <a:xfrm>
              <a:off x="-2" y="687821"/>
              <a:ext cx="12192001" cy="269446"/>
              <a:chOff x="0" y="6280914"/>
              <a:chExt cx="12192001" cy="746008"/>
            </a:xfrm>
          </p:grpSpPr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6700FAB8-5412-5C6F-2FFA-B33FFB8A1843}"/>
                  </a:ext>
                </a:extLst>
              </p:cNvPr>
              <p:cNvSpPr/>
              <p:nvPr userDrawn="1"/>
            </p:nvSpPr>
            <p:spPr>
              <a:xfrm>
                <a:off x="0" y="6833943"/>
                <a:ext cx="12192000" cy="192979"/>
              </a:xfrm>
              <a:prstGeom prst="rect">
                <a:avLst/>
              </a:prstGeom>
              <a:solidFill>
                <a:srgbClr val="0177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" name="직사각형 10">
                <a:extLst>
                  <a:ext uri="{FF2B5EF4-FFF2-40B4-BE49-F238E27FC236}">
                    <a16:creationId xmlns:a16="http://schemas.microsoft.com/office/drawing/2014/main" id="{4C533D59-93A1-8B97-9C79-194DDE802010}"/>
                  </a:ext>
                </a:extLst>
              </p:cNvPr>
              <p:cNvSpPr/>
              <p:nvPr userDrawn="1"/>
            </p:nvSpPr>
            <p:spPr>
              <a:xfrm>
                <a:off x="10704514" y="6280914"/>
                <a:ext cx="1487486" cy="297898"/>
              </a:xfrm>
              <a:prstGeom prst="rect">
                <a:avLst/>
              </a:prstGeom>
              <a:solidFill>
                <a:srgbClr val="0177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" name="직사각형 11">
                <a:extLst>
                  <a:ext uri="{FF2B5EF4-FFF2-40B4-BE49-F238E27FC236}">
                    <a16:creationId xmlns:a16="http://schemas.microsoft.com/office/drawing/2014/main" id="{F7AA16BD-BFBB-078B-1D1E-282B80741AAA}"/>
                  </a:ext>
                </a:extLst>
              </p:cNvPr>
              <p:cNvSpPr/>
              <p:nvPr userDrawn="1"/>
            </p:nvSpPr>
            <p:spPr>
              <a:xfrm>
                <a:off x="9456287" y="6556397"/>
                <a:ext cx="2735714" cy="291292"/>
              </a:xfrm>
              <a:prstGeom prst="rect">
                <a:avLst/>
              </a:prstGeom>
              <a:solidFill>
                <a:srgbClr val="0177E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4" name="그림 13">
            <a:extLst>
              <a:ext uri="{FF2B5EF4-FFF2-40B4-BE49-F238E27FC236}">
                <a16:creationId xmlns:a16="http://schemas.microsoft.com/office/drawing/2014/main" id="{B5043CAB-0F6A-5FA5-85B4-4696BDE1175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880" y="242761"/>
            <a:ext cx="1311799" cy="218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6329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476204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/>
          <p:cNvSpPr>
            <a:spLocks noGrp="1"/>
          </p:cNvSpPr>
          <p:nvPr>
            <p:ph type="sldNum" sz="quarter" idx="4"/>
          </p:nvPr>
        </p:nvSpPr>
        <p:spPr>
          <a:xfrm>
            <a:off x="47244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altLang="ko-KR"/>
              <a:t>- </a:t>
            </a:r>
            <a:fld id="{78448AA0-6F76-4A84-A9E5-48F3EA466454}" type="slidenum">
              <a:rPr lang="ko-KR" altLang="en-US" smtClean="0"/>
              <a:pPr/>
              <a:t>‹#›</a:t>
            </a:fld>
            <a:r>
              <a:rPr lang="ko-KR" altLang="en-US"/>
              <a:t> </a:t>
            </a:r>
            <a:r>
              <a:rPr lang="en-US" altLang="ko-KR"/>
              <a:t>-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78931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15" r:id="rId4"/>
  </p:sldLayoutIdLst>
  <p:hf sldNum="0"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4BE486-B1DA-3778-910E-976AFA595D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2">
            <a:extLst>
              <a:ext uri="{FF2B5EF4-FFF2-40B4-BE49-F238E27FC236}">
                <a16:creationId xmlns:a16="http://schemas.microsoft.com/office/drawing/2014/main" id="{1019AB4A-2079-A61C-AF16-65561C797DAC}"/>
              </a:ext>
            </a:extLst>
          </p:cNvPr>
          <p:cNvSpPr txBox="1">
            <a:spLocks/>
          </p:cNvSpPr>
          <p:nvPr/>
        </p:nvSpPr>
        <p:spPr>
          <a:xfrm>
            <a:off x="340767" y="1052738"/>
            <a:ext cx="4104134" cy="364157"/>
          </a:xfrm>
          <a:prstGeom prst="rect">
            <a:avLst/>
          </a:prstGeom>
        </p:spPr>
        <p:txBody>
          <a:bodyPr/>
          <a:lstStyle>
            <a:lvl1pPr marL="342900" indent="-3429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latinLnBrk="0">
              <a:lnSpc>
                <a:spcPct val="110000"/>
              </a:lnSpc>
              <a:spcBef>
                <a:spcPct val="50000"/>
              </a:spcBef>
              <a:buClr>
                <a:srgbClr val="333333"/>
              </a:buClr>
              <a:buNone/>
            </a:pPr>
            <a:r>
              <a:rPr lang="ko-KR" altLang="en-US" sz="1400" dirty="0">
                <a:latin typeface="Pretendard SemiBold" panose="02000703000000020004" pitchFamily="50" charset="-127"/>
                <a:ea typeface="Pretendard SemiBold" panose="02000703000000020004"/>
                <a:cs typeface="Pretendard SemiBold" panose="02000703000000020004" pitchFamily="50" charset="-127"/>
              </a:rPr>
              <a:t>서버 현황</a:t>
            </a:r>
            <a:endParaRPr lang="en-US" altLang="ko-KR" sz="1400" dirty="0">
              <a:latin typeface="Pretendard SemiBold" panose="02000703000000020004" pitchFamily="50" charset="-127"/>
              <a:ea typeface="Pretendard SemiBold" panose="02000703000000020004"/>
              <a:cs typeface="Pretendard SemiBold" panose="02000703000000020004" pitchFamily="50" charset="-127"/>
            </a:endParaRPr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AF4CE8CF-55A7-6334-8525-280BC194AB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00769518"/>
              </p:ext>
            </p:extLst>
          </p:nvPr>
        </p:nvGraphicFramePr>
        <p:xfrm>
          <a:off x="359144" y="1402826"/>
          <a:ext cx="11404466" cy="10730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655">
                  <a:extLst>
                    <a:ext uri="{9D8B030D-6E8A-4147-A177-3AD203B41FA5}">
                      <a16:colId xmlns:a16="http://schemas.microsoft.com/office/drawing/2014/main" val="3119709275"/>
                    </a:ext>
                  </a:extLst>
                </a:gridCol>
                <a:gridCol w="763729">
                  <a:extLst>
                    <a:ext uri="{9D8B030D-6E8A-4147-A177-3AD203B41FA5}">
                      <a16:colId xmlns:a16="http://schemas.microsoft.com/office/drawing/2014/main" val="1527755324"/>
                    </a:ext>
                  </a:extLst>
                </a:gridCol>
                <a:gridCol w="1516144">
                  <a:extLst>
                    <a:ext uri="{9D8B030D-6E8A-4147-A177-3AD203B41FA5}">
                      <a16:colId xmlns:a16="http://schemas.microsoft.com/office/drawing/2014/main" val="3620619265"/>
                    </a:ext>
                  </a:extLst>
                </a:gridCol>
                <a:gridCol w="1846821">
                  <a:extLst>
                    <a:ext uri="{9D8B030D-6E8A-4147-A177-3AD203B41FA5}">
                      <a16:colId xmlns:a16="http://schemas.microsoft.com/office/drawing/2014/main" val="3475008617"/>
                    </a:ext>
                  </a:extLst>
                </a:gridCol>
                <a:gridCol w="1352606">
                  <a:extLst>
                    <a:ext uri="{9D8B030D-6E8A-4147-A177-3AD203B41FA5}">
                      <a16:colId xmlns:a16="http://schemas.microsoft.com/office/drawing/2014/main" val="2707786432"/>
                    </a:ext>
                  </a:extLst>
                </a:gridCol>
                <a:gridCol w="1846821">
                  <a:extLst>
                    <a:ext uri="{9D8B030D-6E8A-4147-A177-3AD203B41FA5}">
                      <a16:colId xmlns:a16="http://schemas.microsoft.com/office/drawing/2014/main" val="3761107947"/>
                    </a:ext>
                  </a:extLst>
                </a:gridCol>
                <a:gridCol w="136081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992875">
                  <a:extLst>
                    <a:ext uri="{9D8B030D-6E8A-4147-A177-3AD203B41FA5}">
                      <a16:colId xmlns:a16="http://schemas.microsoft.com/office/drawing/2014/main" val="321501257"/>
                    </a:ext>
                  </a:extLst>
                </a:gridCol>
              </a:tblGrid>
              <a:tr h="263854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구분</a:t>
                      </a:r>
                    </a:p>
                  </a:txBody>
                  <a:tcPr marT="41564" marB="4156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데이터 운영 서버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HDD </a:t>
                      </a:r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사용량 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CPU </a:t>
                      </a:r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사용량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Memory</a:t>
                      </a:r>
                      <a:r>
                        <a:rPr lang="en-US" altLang="ko-KR" sz="900" b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 </a:t>
                      </a:r>
                      <a:r>
                        <a:rPr lang="ko-KR" altLang="en-US" sz="900" b="0" baseline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사용량</a:t>
                      </a:r>
                      <a:endParaRPr lang="ko-KR" altLang="en-US" sz="9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평균 </a:t>
                      </a:r>
                      <a:r>
                        <a:rPr lang="ko-KR" altLang="en-US" sz="900" b="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문서수</a:t>
                      </a:r>
                      <a:endParaRPr lang="ko-KR" altLang="en-US" sz="900" b="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비고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0708107"/>
                  </a:ext>
                </a:extLst>
              </a:tr>
              <a:tr h="202288">
                <a:tc rowSpan="4">
                  <a:txBody>
                    <a:bodyPr/>
                    <a:lstStyle/>
                    <a:p>
                      <a:pPr algn="ctr" rtl="0" fontAlgn="ctr"/>
                      <a:r>
                        <a:rPr lang="en-US" sz="900" b="0" kern="12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SemiBold" panose="02000703000000020004" pitchFamily="50" charset="-127"/>
                          <a:ea typeface="Pretendard SemiBold" panose="02000703000000020004" pitchFamily="50" charset="-127"/>
                          <a:cs typeface="Pretendard SemiBold" panose="02000703000000020004" pitchFamily="50" charset="-127"/>
                        </a:rPr>
                        <a:t>Quettai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28575" marR="28575" marT="17318" marB="173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878GB/1741GB (50%)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2%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66%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2,737,454,634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warm_1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443474"/>
                  </a:ext>
                </a:extLst>
              </a:tr>
              <a:tr h="202288">
                <a:tc vMerge="1">
                  <a:txBody>
                    <a:bodyPr/>
                    <a:lstStyle/>
                    <a:p>
                      <a:pPr algn="ctr" rtl="0" fontAlgn="ctr"/>
                      <a:endParaRPr lang="en-US" sz="9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28575" marR="28575" marT="19050" marB="190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RC12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943GB/1741GB (54%)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1%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64%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2,070,526,600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hot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124442"/>
                  </a:ext>
                </a:extLst>
              </a:tr>
              <a:tr h="202288">
                <a:tc vMerge="1">
                  <a:txBody>
                    <a:bodyPr/>
                    <a:lstStyle/>
                    <a:p>
                      <a:pPr algn="ctr" rtl="0" fontAlgn="ctr"/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28575" marR="28575" marT="17318" marB="173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RC17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863GB/1741GB (49%)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0%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59%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3,279,319,482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warm_1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587566"/>
                  </a:ext>
                </a:extLst>
              </a:tr>
              <a:tr h="202288">
                <a:tc vMerge="1">
                  <a:txBody>
                    <a:bodyPr/>
                    <a:lstStyle/>
                    <a:p>
                      <a:pPr algn="ctr" rtl="0" fontAlgn="ctr"/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SemiBold" panose="02000703000000020004" pitchFamily="50" charset="-127"/>
                        <a:ea typeface="Pretendard SemiBold" panose="02000703000000020004" pitchFamily="50" charset="-127"/>
                        <a:cs typeface="Pretendard SemiBold" panose="02000703000000020004" pitchFamily="50" charset="-127"/>
                      </a:endParaRPr>
                    </a:p>
                  </a:txBody>
                  <a:tcPr marL="28575" marR="28575" marT="17318" marB="17318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RC18</a:t>
                      </a:r>
                      <a:endParaRPr lang="en-US" sz="900" b="0" kern="12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Pretendard Light" panose="02000403000000020004" pitchFamily="50" charset="-127"/>
                        <a:ea typeface="Pretendard Light" panose="02000403000000020004" pitchFamily="50" charset="-127"/>
                        <a:cs typeface="Pretendard Light" panose="02000403000000020004" pitchFamily="50" charset="-127"/>
                      </a:endParaRP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20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939GB/1741GB (53%)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0%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62%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>
                          <a:latin typeface="Pretendard Light"/>
                        </a:rPr>
                        <a:t>2,757,452,953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a-DK" altLang="ko-KR" sz="900" b="0" kern="12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Pretendard Light" panose="02000403000000020004" pitchFamily="50" charset="-127"/>
                          <a:ea typeface="Pretendard Light" panose="02000403000000020004" pitchFamily="50" charset="-127"/>
                          <a:cs typeface="Pretendard Light" panose="02000403000000020004" pitchFamily="50" charset="-127"/>
                        </a:rPr>
                        <a:t>Quettai warm_2</a:t>
                      </a:r>
                    </a:p>
                  </a:txBody>
                  <a:tcPr marL="28575" marR="28575" marT="19050" marB="1905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95000"/>
                          <a:lumOff val="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4229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E5B5B376-B4E8-42A9-B2C3-9448585715FC}"/>
              </a:ext>
            </a:extLst>
          </p:cNvPr>
          <p:cNvSpPr txBox="1"/>
          <p:nvPr/>
        </p:nvSpPr>
        <p:spPr>
          <a:xfrm>
            <a:off x="263353" y="260648"/>
            <a:ext cx="27363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R&amp;D </a:t>
            </a:r>
            <a:r>
              <a:rPr lang="ko-KR" altLang="en-US" sz="2000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월간 수행내역  </a:t>
            </a:r>
            <a:r>
              <a:rPr lang="en-US" altLang="ko-KR" dirty="0">
                <a:solidFill>
                  <a:schemeClr val="bg1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|</a:t>
            </a:r>
            <a:endParaRPr lang="ko-KR" altLang="en-US" dirty="0">
              <a:solidFill>
                <a:schemeClr val="bg1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76F4F1D-A8CE-4091-9DEF-5F474CA2370C}"/>
              </a:ext>
            </a:extLst>
          </p:cNvPr>
          <p:cNvSpPr txBox="1">
            <a:spLocks/>
          </p:cNvSpPr>
          <p:nvPr/>
        </p:nvSpPr>
        <p:spPr>
          <a:xfrm>
            <a:off x="2495600" y="275800"/>
            <a:ext cx="5616624" cy="364157"/>
          </a:xfrm>
          <a:prstGeom prst="rect">
            <a:avLst/>
          </a:prstGeom>
          <a:noFill/>
        </p:spPr>
        <p:txBody>
          <a:bodyPr wrap="square" anchor="ctr" anchorCtr="0"/>
          <a:lstStyle>
            <a:lvl1pPr marL="266700" indent="-266700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q"/>
              <a:defRPr kumimoji="1" sz="1800" b="1">
                <a:solidFill>
                  <a:srgbClr val="000066"/>
                </a:solidFill>
                <a:latin typeface="맑은 고딕" pitchFamily="50" charset="-127"/>
                <a:ea typeface="맑은 고딕" pitchFamily="50" charset="-127"/>
                <a:cs typeface="+mn-cs"/>
              </a:defRPr>
            </a:lvl1pPr>
            <a:lvl2pPr marL="625475" indent="-179388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Font typeface="Courier New" pitchFamily="49" charset="0"/>
              <a:buChar char="–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2pPr>
            <a:lvl3pPr marL="1071563" indent="-169863" algn="l" rtl="0" eaLnBrk="0" fontAlgn="base" latinLnBrk="1" hangingPunct="0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har char="•"/>
              <a:defRPr kumimoji="1" sz="16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3pPr>
            <a:lvl4pPr marL="16002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1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4pPr>
            <a:lvl5pPr marL="2057400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100">
                <a:solidFill>
                  <a:schemeClr val="tx1"/>
                </a:solidFill>
                <a:latin typeface="맑은 고딕" pitchFamily="50" charset="-127"/>
                <a:ea typeface="맑은 고딕" pitchFamily="50" charset="-127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har char="»"/>
              <a:defRPr kumimoji="1" sz="1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kumimoji="0" lang="en-US" altLang="ko-KR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AI</a:t>
            </a:r>
            <a:r>
              <a:rPr kumimoji="0" lang="ko-KR" altLang="en-US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플랫폼 사업부 </a:t>
            </a:r>
            <a:r>
              <a:rPr kumimoji="0" lang="en-US" altLang="ko-KR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– </a:t>
            </a:r>
            <a:r>
              <a:rPr kumimoji="0" lang="ko-KR" altLang="en-US" b="0" dirty="0">
                <a:solidFill>
                  <a:srgbClr val="1AA4FC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시스템 운영 현황</a:t>
            </a:r>
            <a:endParaRPr kumimoji="0" lang="en-US" altLang="ko-KR" b="0" dirty="0">
              <a:solidFill>
                <a:srgbClr val="1AA4FC"/>
              </a:solidFill>
              <a:latin typeface="Pretendard SemiBold" panose="02000703000000020004" pitchFamily="50" charset="-127"/>
              <a:ea typeface="Pretendard SemiBold" panose="02000703000000020004" pitchFamily="50" charset="-127"/>
              <a:cs typeface="Pretendard SemiBold" panose="02000703000000020004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93A496-601C-3479-3013-0CC146F9B0D0}"/>
              </a:ext>
            </a:extLst>
          </p:cNvPr>
          <p:cNvSpPr txBox="1"/>
          <p:nvPr/>
        </p:nvSpPr>
        <p:spPr>
          <a:xfrm>
            <a:off x="10171858" y="1214338"/>
            <a:ext cx="167937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>
                <a:latin typeface="Pretendard Light"/>
              </a:rPr>
              <a:t>※ 11월 04일 기준</a:t>
            </a:r>
          </a:p>
        </p:txBody>
      </p:sp>
    </p:spTree>
    <p:extLst>
      <p:ext uri="{BB962C8B-B14F-4D97-AF65-F5344CB8AC3E}">
        <p14:creationId xmlns:p14="http://schemas.microsoft.com/office/powerpoint/2010/main" val="3705497716"/>
      </p:ext>
    </p:extLst>
  </p:cSld>
  <p:clrMapOvr>
    <a:masterClrMapping/>
  </p:clrMapOvr>
</p:sld>
</file>

<file path=ppt/theme/theme1.xml><?xml version="1.0" encoding="utf-8"?>
<a:theme xmlns:a="http://schemas.openxmlformats.org/drawingml/2006/main" name="RSN_RND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41594</TotalTime>
  <Words>139</Words>
  <Application>Microsoft Office PowerPoint</Application>
  <PresentationFormat>와이드스크린</PresentationFormat>
  <Paragraphs>40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 Light</vt:lpstr>
      <vt:lpstr>Pretendard SemiBold</vt:lpstr>
      <vt:lpstr>맑은 고딕</vt:lpstr>
      <vt:lpstr>Arial</vt:lpstr>
      <vt:lpstr>Wingdings</vt:lpstr>
      <vt:lpstr>RSN_RND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bae</dc:creator>
  <cp:lastModifiedBy>승준 한</cp:lastModifiedBy>
  <cp:revision>1191</cp:revision>
  <cp:lastPrinted>2019-12-16T05:55:14Z</cp:lastPrinted>
  <dcterms:created xsi:type="dcterms:W3CDTF">2016-10-19T11:30:09Z</dcterms:created>
  <dcterms:modified xsi:type="dcterms:W3CDTF">2025-10-22T04:11:29Z</dcterms:modified>
</cp:coreProperties>
</file>